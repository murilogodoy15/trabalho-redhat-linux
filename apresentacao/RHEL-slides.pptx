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78" r:id="rId8"/>
    <p:sldId id="279" r:id="rId9"/>
    <p:sldId id="280" r:id="rId10"/>
    <p:sldId id="281" r:id="rId11"/>
    <p:sldId id="263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8288000" cy="10287000"/>
  <p:notesSz cx="6858000" cy="9144000"/>
  <p:embeddedFontLst>
    <p:embeddedFont>
      <p:font typeface="Canva Sans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3290207" cy="3290207"/>
            <a:chOff x="0" y="0"/>
            <a:chExt cx="4386943" cy="4386943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87549" y="-87549"/>
              <a:ext cx="3939702" cy="4114800"/>
              <a:chOff x="0" y="0"/>
              <a:chExt cx="571500" cy="5969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715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5969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E90000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4386943" cy="4386943"/>
              <a:chOff x="0" y="0"/>
              <a:chExt cx="558800" cy="558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58800" cy="558800"/>
              </a:xfrm>
              <a:custGeom>
                <a:avLst/>
                <a:gdLst/>
                <a:ahLst/>
                <a:cxnLst/>
                <a:rect l="l" t="t" r="r" b="b"/>
                <a:pathLst>
                  <a:path w="558800" h="558800">
                    <a:moveTo>
                      <a:pt x="0" y="558800"/>
                    </a:moveTo>
                    <a:cubicBezTo>
                      <a:pt x="0" y="411634"/>
                      <a:pt x="59606" y="267731"/>
                      <a:pt x="163669" y="163669"/>
                    </a:cubicBezTo>
                    <a:cubicBezTo>
                      <a:pt x="267731" y="59606"/>
                      <a:pt x="411634" y="0"/>
                      <a:pt x="558800" y="0"/>
                    </a:cubicBezTo>
                    <a:lnTo>
                      <a:pt x="558800" y="558800"/>
                    </a:lnTo>
                    <a:lnTo>
                      <a:pt x="0" y="5588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65100" y="127000"/>
                <a:ext cx="393700" cy="4318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 rot="-5400000">
            <a:off x="13969093" y="5968093"/>
            <a:ext cx="3290207" cy="3290207"/>
            <a:chOff x="0" y="0"/>
            <a:chExt cx="4386943" cy="4386943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272143"/>
              <a:ext cx="3939702" cy="4114800"/>
              <a:chOff x="0" y="0"/>
              <a:chExt cx="571500" cy="5969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715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5969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E90000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5400000">
              <a:off x="0" y="0"/>
              <a:ext cx="4386943" cy="4386943"/>
              <a:chOff x="0" y="0"/>
              <a:chExt cx="558800" cy="558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58800" cy="558800"/>
              </a:xfrm>
              <a:custGeom>
                <a:avLst/>
                <a:gdLst/>
                <a:ahLst/>
                <a:cxnLst/>
                <a:rect l="l" t="t" r="r" b="b"/>
                <a:pathLst>
                  <a:path w="558800" h="558800">
                    <a:moveTo>
                      <a:pt x="0" y="558800"/>
                    </a:moveTo>
                    <a:cubicBezTo>
                      <a:pt x="0" y="411634"/>
                      <a:pt x="59606" y="267731"/>
                      <a:pt x="163669" y="163669"/>
                    </a:cubicBezTo>
                    <a:cubicBezTo>
                      <a:pt x="267731" y="59606"/>
                      <a:pt x="411634" y="0"/>
                      <a:pt x="558800" y="0"/>
                    </a:cubicBezTo>
                    <a:lnTo>
                      <a:pt x="558800" y="558800"/>
                    </a:lnTo>
                    <a:lnTo>
                      <a:pt x="0" y="5588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65100" y="127000"/>
                <a:ext cx="393700" cy="4318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1028700" y="5968093"/>
            <a:ext cx="3290207" cy="3290207"/>
            <a:chOff x="0" y="0"/>
            <a:chExt cx="4386943" cy="4386943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272143"/>
              <a:ext cx="3939702" cy="4114800"/>
              <a:chOff x="0" y="0"/>
              <a:chExt cx="571500" cy="5969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715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5969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E90000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-5400000">
              <a:off x="0" y="0"/>
              <a:ext cx="4386943" cy="4386943"/>
              <a:chOff x="0" y="0"/>
              <a:chExt cx="558800" cy="558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58800" cy="558800"/>
              </a:xfrm>
              <a:custGeom>
                <a:avLst/>
                <a:gdLst/>
                <a:ahLst/>
                <a:cxnLst/>
                <a:rect l="l" t="t" r="r" b="b"/>
                <a:pathLst>
                  <a:path w="558800" h="558800">
                    <a:moveTo>
                      <a:pt x="0" y="558800"/>
                    </a:moveTo>
                    <a:cubicBezTo>
                      <a:pt x="0" y="411634"/>
                      <a:pt x="59606" y="267731"/>
                      <a:pt x="163669" y="163669"/>
                    </a:cubicBezTo>
                    <a:cubicBezTo>
                      <a:pt x="267731" y="59606"/>
                      <a:pt x="411634" y="0"/>
                      <a:pt x="558800" y="0"/>
                    </a:cubicBezTo>
                    <a:lnTo>
                      <a:pt x="558800" y="558800"/>
                    </a:lnTo>
                    <a:lnTo>
                      <a:pt x="0" y="5588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65100" y="127000"/>
                <a:ext cx="393700" cy="4318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23" name="Group 23"/>
          <p:cNvGrpSpPr/>
          <p:nvPr/>
        </p:nvGrpSpPr>
        <p:grpSpPr>
          <a:xfrm rot="5400000">
            <a:off x="13969093" y="1028700"/>
            <a:ext cx="3290207" cy="3290207"/>
            <a:chOff x="0" y="0"/>
            <a:chExt cx="4386943" cy="4386943"/>
          </a:xfrm>
        </p:grpSpPr>
        <p:grpSp>
          <p:nvGrpSpPr>
            <p:cNvPr id="24" name="Group 24"/>
            <p:cNvGrpSpPr/>
            <p:nvPr/>
          </p:nvGrpSpPr>
          <p:grpSpPr>
            <a:xfrm rot="5400000">
              <a:off x="87549" y="-87549"/>
              <a:ext cx="3939702" cy="4114800"/>
              <a:chOff x="0" y="0"/>
              <a:chExt cx="571500" cy="5969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5715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5969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E90000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0"/>
              <a:ext cx="4386943" cy="4386943"/>
              <a:chOff x="0" y="0"/>
              <a:chExt cx="558800" cy="558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58800" cy="558800"/>
              </a:xfrm>
              <a:custGeom>
                <a:avLst/>
                <a:gdLst/>
                <a:ahLst/>
                <a:cxnLst/>
                <a:rect l="l" t="t" r="r" b="b"/>
                <a:pathLst>
                  <a:path w="558800" h="558800">
                    <a:moveTo>
                      <a:pt x="0" y="558800"/>
                    </a:moveTo>
                    <a:cubicBezTo>
                      <a:pt x="0" y="411634"/>
                      <a:pt x="59606" y="267731"/>
                      <a:pt x="163669" y="163669"/>
                    </a:cubicBezTo>
                    <a:cubicBezTo>
                      <a:pt x="267731" y="59606"/>
                      <a:pt x="411634" y="0"/>
                      <a:pt x="558800" y="0"/>
                    </a:cubicBezTo>
                    <a:lnTo>
                      <a:pt x="558800" y="558800"/>
                    </a:lnTo>
                    <a:lnTo>
                      <a:pt x="0" y="5588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65100" y="127000"/>
                <a:ext cx="393700" cy="4318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0" name="Freeform 30"/>
          <p:cNvSpPr/>
          <p:nvPr/>
        </p:nvSpPr>
        <p:spPr>
          <a:xfrm>
            <a:off x="7137320" y="3063783"/>
            <a:ext cx="4013360" cy="2510248"/>
          </a:xfrm>
          <a:custGeom>
            <a:avLst/>
            <a:gdLst/>
            <a:ahLst/>
            <a:cxnLst/>
            <a:rect l="l" t="t" r="r" b="b"/>
            <a:pathLst>
              <a:path w="4013360" h="2510248">
                <a:moveTo>
                  <a:pt x="0" y="0"/>
                </a:moveTo>
                <a:lnTo>
                  <a:pt x="4013360" y="0"/>
                </a:lnTo>
                <a:lnTo>
                  <a:pt x="4013360" y="2510248"/>
                </a:lnTo>
                <a:lnTo>
                  <a:pt x="0" y="2510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4857559" y="5825218"/>
            <a:ext cx="8409583" cy="2441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 Hat Enterprise </a:t>
            </a:r>
          </a:p>
          <a:p>
            <a:pPr algn="ctr">
              <a:lnSpc>
                <a:spcPts val="9800"/>
              </a:lnSpc>
            </a:pPr>
            <a:r>
              <a:rPr lang="en-US" sz="7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Linux</a:t>
            </a:r>
          </a:p>
        </p:txBody>
      </p:sp>
      <p:sp>
        <p:nvSpPr>
          <p:cNvPr id="32" name="AutoShape 32"/>
          <p:cNvSpPr/>
          <p:nvPr/>
        </p:nvSpPr>
        <p:spPr>
          <a:xfrm>
            <a:off x="4857559" y="7117437"/>
            <a:ext cx="849123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33"/>
          <p:cNvSpPr/>
          <p:nvPr/>
        </p:nvSpPr>
        <p:spPr>
          <a:xfrm>
            <a:off x="7911730" y="8266781"/>
            <a:ext cx="246453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3748" y="387804"/>
            <a:ext cx="1998155" cy="1249792"/>
          </a:xfrm>
          <a:custGeom>
            <a:avLst/>
            <a:gdLst/>
            <a:ahLst/>
            <a:cxnLst/>
            <a:rect l="l" t="t" r="r" b="b"/>
            <a:pathLst>
              <a:path w="1998155" h="1249792">
                <a:moveTo>
                  <a:pt x="0" y="0"/>
                </a:moveTo>
                <a:lnTo>
                  <a:pt x="1998156" y="0"/>
                </a:lnTo>
                <a:lnTo>
                  <a:pt x="1998156" y="1249791"/>
                </a:lnTo>
                <a:lnTo>
                  <a:pt x="0" y="1249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73811" y="600725"/>
            <a:ext cx="10550979" cy="1379764"/>
            <a:chOff x="0" y="0"/>
            <a:chExt cx="2778859" cy="3633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78858" cy="363395"/>
            </a:xfrm>
            <a:custGeom>
              <a:avLst/>
              <a:gdLst/>
              <a:ahLst/>
              <a:cxnLst/>
              <a:rect l="l" t="t" r="r" b="b"/>
              <a:pathLst>
                <a:path w="2778858" h="363395">
                  <a:moveTo>
                    <a:pt x="2778858" y="0"/>
                  </a:moveTo>
                  <a:lnTo>
                    <a:pt x="0" y="0"/>
                  </a:lnTo>
                  <a:lnTo>
                    <a:pt x="101600" y="181697"/>
                  </a:lnTo>
                  <a:lnTo>
                    <a:pt x="0" y="363395"/>
                  </a:lnTo>
                  <a:lnTo>
                    <a:pt x="2778858" y="363395"/>
                  </a:lnTo>
                  <a:lnTo>
                    <a:pt x="2677258" y="181697"/>
                  </a:lnTo>
                  <a:lnTo>
                    <a:pt x="2778858" y="0"/>
                  </a:lnTo>
                  <a:close/>
                </a:path>
              </a:pathLst>
            </a:custGeom>
            <a:solidFill>
              <a:srgbClr val="E9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88900" y="-76200"/>
              <a:ext cx="2601059" cy="43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5"/>
                </a:lnSpc>
              </a:pPr>
              <a:r>
                <a:rPr lang="en-US" sz="65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Pesquisa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55040" y="1567754"/>
            <a:ext cx="1755570" cy="771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RHEL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B70C94-A2C1-9617-C942-3D37361114F1}"/>
              </a:ext>
            </a:extLst>
          </p:cNvPr>
          <p:cNvSpPr txBox="1"/>
          <p:nvPr/>
        </p:nvSpPr>
        <p:spPr>
          <a:xfrm>
            <a:off x="1316098" y="2164588"/>
            <a:ext cx="155158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O </a:t>
            </a:r>
            <a:r>
              <a:rPr lang="pt-BR" sz="6000" b="1" dirty="0" err="1">
                <a:solidFill>
                  <a:schemeClr val="bg1"/>
                </a:solidFill>
              </a:rPr>
              <a:t>Red</a:t>
            </a:r>
            <a:r>
              <a:rPr lang="pt-BR" sz="6000" b="1" dirty="0">
                <a:solidFill>
                  <a:schemeClr val="bg1"/>
                </a:solidFill>
              </a:rPr>
              <a:t> </a:t>
            </a:r>
            <a:r>
              <a:rPr lang="pt-BR" sz="6000" b="1" dirty="0" err="1">
                <a:solidFill>
                  <a:schemeClr val="bg1"/>
                </a:solidFill>
              </a:rPr>
              <a:t>Hat</a:t>
            </a:r>
            <a:r>
              <a:rPr lang="pt-BR" sz="6000" b="1" dirty="0">
                <a:solidFill>
                  <a:schemeClr val="bg1"/>
                </a:solidFill>
              </a:rPr>
              <a:t> Enterprise Linux (RHEL) 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B31AD4-5E21-DB18-34D6-F752D9E52EBF}"/>
              </a:ext>
            </a:extLst>
          </p:cNvPr>
          <p:cNvSpPr txBox="1"/>
          <p:nvPr/>
        </p:nvSpPr>
        <p:spPr>
          <a:xfrm>
            <a:off x="4578224" y="3694486"/>
            <a:ext cx="8991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/>
                </a:solidFill>
              </a:rPr>
              <a:t>Base estável para servidores, estações de trabalho, máquinas virtuais, nuvens públicas e privadas, contêineres e ambientes de </a:t>
            </a:r>
            <a:r>
              <a:rPr lang="pt-BR" sz="4000" dirty="0" err="1">
                <a:solidFill>
                  <a:schemeClr val="bg1"/>
                </a:solidFill>
              </a:rPr>
              <a:t>edge</a:t>
            </a:r>
            <a:r>
              <a:rPr lang="pt-BR" sz="4000" dirty="0">
                <a:solidFill>
                  <a:schemeClr val="bg1"/>
                </a:solidFill>
              </a:rPr>
              <a:t> </a:t>
            </a:r>
            <a:r>
              <a:rPr lang="pt-BR" sz="4000" dirty="0" err="1">
                <a:solidFill>
                  <a:schemeClr val="bg1"/>
                </a:solidFill>
              </a:rPr>
              <a:t>computing</a:t>
            </a:r>
            <a:r>
              <a:rPr lang="pt-BR" sz="4000" dirty="0">
                <a:solidFill>
                  <a:schemeClr val="bg1"/>
                </a:solidFill>
              </a:rPr>
              <a:t>.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9D3A01-F898-EEA7-0066-74EE1CA98611}"/>
              </a:ext>
            </a:extLst>
          </p:cNvPr>
          <p:cNvSpPr txBox="1"/>
          <p:nvPr/>
        </p:nvSpPr>
        <p:spPr>
          <a:xfrm>
            <a:off x="4415729" y="6831778"/>
            <a:ext cx="93165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/>
                </a:solidFill>
              </a:rPr>
              <a:t>Assinatura para suporte direto e recursos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5F1EFC-732C-7866-56A6-FC0574B5A324}"/>
              </a:ext>
            </a:extLst>
          </p:cNvPr>
          <p:cNvSpPr txBox="1"/>
          <p:nvPr/>
        </p:nvSpPr>
        <p:spPr>
          <a:xfrm>
            <a:off x="5369408" y="8122411"/>
            <a:ext cx="75491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/>
                </a:solidFill>
              </a:rPr>
              <a:t>Distribuição mantida pela </a:t>
            </a:r>
            <a:r>
              <a:rPr lang="pt-BR" sz="4000" dirty="0" err="1">
                <a:solidFill>
                  <a:schemeClr val="bg1"/>
                </a:solidFill>
              </a:rPr>
              <a:t>Red</a:t>
            </a:r>
            <a:r>
              <a:rPr lang="pt-BR" sz="4000" dirty="0">
                <a:solidFill>
                  <a:schemeClr val="bg1"/>
                </a:solidFill>
              </a:rPr>
              <a:t> </a:t>
            </a:r>
            <a:r>
              <a:rPr lang="pt-BR" sz="4000" dirty="0" err="1">
                <a:solidFill>
                  <a:schemeClr val="bg1"/>
                </a:solidFill>
              </a:rPr>
              <a:t>Hat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3748" y="387804"/>
            <a:ext cx="1998155" cy="1249792"/>
          </a:xfrm>
          <a:custGeom>
            <a:avLst/>
            <a:gdLst/>
            <a:ahLst/>
            <a:cxnLst/>
            <a:rect l="l" t="t" r="r" b="b"/>
            <a:pathLst>
              <a:path w="1998155" h="1249792">
                <a:moveTo>
                  <a:pt x="0" y="0"/>
                </a:moveTo>
                <a:lnTo>
                  <a:pt x="1998156" y="0"/>
                </a:lnTo>
                <a:lnTo>
                  <a:pt x="1998156" y="1249791"/>
                </a:lnTo>
                <a:lnTo>
                  <a:pt x="0" y="1249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64286" y="600725"/>
            <a:ext cx="10550979" cy="1379764"/>
            <a:chOff x="0" y="0"/>
            <a:chExt cx="2778859" cy="3633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78858" cy="363395"/>
            </a:xfrm>
            <a:custGeom>
              <a:avLst/>
              <a:gdLst/>
              <a:ahLst/>
              <a:cxnLst/>
              <a:rect l="l" t="t" r="r" b="b"/>
              <a:pathLst>
                <a:path w="2778858" h="363395">
                  <a:moveTo>
                    <a:pt x="2778858" y="0"/>
                  </a:moveTo>
                  <a:lnTo>
                    <a:pt x="0" y="0"/>
                  </a:lnTo>
                  <a:lnTo>
                    <a:pt x="101600" y="181697"/>
                  </a:lnTo>
                  <a:lnTo>
                    <a:pt x="0" y="363395"/>
                  </a:lnTo>
                  <a:lnTo>
                    <a:pt x="2778858" y="363395"/>
                  </a:lnTo>
                  <a:lnTo>
                    <a:pt x="2677258" y="181697"/>
                  </a:lnTo>
                  <a:lnTo>
                    <a:pt x="2778858" y="0"/>
                  </a:lnTo>
                  <a:close/>
                </a:path>
              </a:pathLst>
            </a:custGeom>
            <a:solidFill>
              <a:srgbClr val="E9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88900" y="-76200"/>
              <a:ext cx="2601059" cy="43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5"/>
                </a:lnSpc>
              </a:pPr>
              <a:r>
                <a:rPr lang="en-US" sz="65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Pesquisa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55040" y="1552588"/>
            <a:ext cx="1755570" cy="771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RHEL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15409" y="1938344"/>
            <a:ext cx="7457182" cy="1472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70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Ciclo</a:t>
            </a:r>
            <a:r>
              <a:rPr lang="en-US" sz="7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 </a:t>
            </a:r>
            <a:r>
              <a:rPr lang="en-US" sz="70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vida</a:t>
            </a:r>
            <a:endParaRPr lang="en-US" sz="70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7A1471-BA8A-089C-62E7-69F1E49C581B}"/>
              </a:ext>
            </a:extLst>
          </p:cNvPr>
          <p:cNvSpPr txBox="1"/>
          <p:nvPr/>
        </p:nvSpPr>
        <p:spPr>
          <a:xfrm>
            <a:off x="10896600" y="4205403"/>
            <a:ext cx="6363375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dirty="0">
                <a:solidFill>
                  <a:schemeClr val="bg1"/>
                </a:solidFill>
              </a:rPr>
              <a:t>Ciclo de vida de dez anos passando por fases, apresentando menos correções, suporte e melhorias.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0250D035-D95C-5722-8B2A-DCA5CE4951AB}"/>
              </a:ext>
            </a:extLst>
          </p:cNvPr>
          <p:cNvSpPr/>
          <p:nvPr/>
        </p:nvSpPr>
        <p:spPr>
          <a:xfrm>
            <a:off x="2912121" y="4695208"/>
            <a:ext cx="484632" cy="978408"/>
          </a:xfrm>
          <a:prstGeom prst="downArrow">
            <a:avLst/>
          </a:prstGeom>
          <a:solidFill>
            <a:srgbClr val="E1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9BA82F-63DD-F6E9-54DF-121A722F1D40}"/>
              </a:ext>
            </a:extLst>
          </p:cNvPr>
          <p:cNvSpPr txBox="1"/>
          <p:nvPr/>
        </p:nvSpPr>
        <p:spPr>
          <a:xfrm>
            <a:off x="468050" y="5781907"/>
            <a:ext cx="537277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dirty="0" err="1">
                <a:solidFill>
                  <a:schemeClr val="bg1"/>
                </a:solidFill>
              </a:rPr>
              <a:t>Maintenance</a:t>
            </a:r>
            <a:r>
              <a:rPr lang="pt-BR" sz="4500" dirty="0">
                <a:solidFill>
                  <a:schemeClr val="bg1"/>
                </a:solidFill>
              </a:rPr>
              <a:t> </a:t>
            </a:r>
            <a:r>
              <a:rPr lang="pt-BR" sz="4500" dirty="0" err="1">
                <a:solidFill>
                  <a:schemeClr val="bg1"/>
                </a:solidFill>
              </a:rPr>
              <a:t>Support</a:t>
            </a:r>
            <a:endParaRPr lang="pt-BR" sz="4500" dirty="0">
              <a:solidFill>
                <a:schemeClr val="bg1"/>
              </a:solidFill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1894D784-D385-8E7A-CE62-087157156824}"/>
              </a:ext>
            </a:extLst>
          </p:cNvPr>
          <p:cNvSpPr/>
          <p:nvPr/>
        </p:nvSpPr>
        <p:spPr>
          <a:xfrm>
            <a:off x="2912121" y="6909654"/>
            <a:ext cx="484632" cy="978408"/>
          </a:xfrm>
          <a:prstGeom prst="downArrow">
            <a:avLst/>
          </a:prstGeom>
          <a:solidFill>
            <a:srgbClr val="E1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1C8888-A8DD-A6EA-3879-65534CD4F7FB}"/>
              </a:ext>
            </a:extLst>
          </p:cNvPr>
          <p:cNvSpPr txBox="1"/>
          <p:nvPr/>
        </p:nvSpPr>
        <p:spPr>
          <a:xfrm>
            <a:off x="723162" y="7956241"/>
            <a:ext cx="486255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500" dirty="0" err="1">
                <a:solidFill>
                  <a:schemeClr val="bg1"/>
                </a:solidFill>
              </a:rPr>
              <a:t>Extended</a:t>
            </a:r>
            <a:r>
              <a:rPr lang="pt-BR" sz="4500" dirty="0">
                <a:solidFill>
                  <a:schemeClr val="bg1"/>
                </a:solidFill>
              </a:rPr>
              <a:t> Life </a:t>
            </a:r>
            <a:r>
              <a:rPr lang="pt-BR" sz="4500" dirty="0" err="1">
                <a:solidFill>
                  <a:schemeClr val="bg1"/>
                </a:solidFill>
              </a:rPr>
              <a:t>Phase</a:t>
            </a:r>
            <a:endParaRPr lang="en-US" sz="45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E48590-E9C8-D317-439F-EFF82CE166B0}"/>
              </a:ext>
            </a:extLst>
          </p:cNvPr>
          <p:cNvSpPr txBox="1"/>
          <p:nvPr/>
        </p:nvSpPr>
        <p:spPr>
          <a:xfrm>
            <a:off x="1752600" y="3812988"/>
            <a:ext cx="537277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dirty="0">
                <a:solidFill>
                  <a:schemeClr val="bg1"/>
                </a:solidFill>
              </a:rPr>
              <a:t>Full </a:t>
            </a:r>
            <a:r>
              <a:rPr lang="pt-BR" sz="4500" dirty="0" err="1">
                <a:solidFill>
                  <a:schemeClr val="bg1"/>
                </a:solidFill>
              </a:rPr>
              <a:t>Support</a:t>
            </a:r>
            <a:endParaRPr lang="pt-BR" sz="4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3748" y="387804"/>
            <a:ext cx="1998155" cy="1249792"/>
          </a:xfrm>
          <a:custGeom>
            <a:avLst/>
            <a:gdLst/>
            <a:ahLst/>
            <a:cxnLst/>
            <a:rect l="l" t="t" r="r" b="b"/>
            <a:pathLst>
              <a:path w="1998155" h="1249792">
                <a:moveTo>
                  <a:pt x="0" y="0"/>
                </a:moveTo>
                <a:lnTo>
                  <a:pt x="1998156" y="0"/>
                </a:lnTo>
                <a:lnTo>
                  <a:pt x="1998156" y="1249791"/>
                </a:lnTo>
                <a:lnTo>
                  <a:pt x="0" y="1249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64286" y="600725"/>
            <a:ext cx="10550979" cy="1379764"/>
            <a:chOff x="0" y="0"/>
            <a:chExt cx="2778859" cy="3633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78858" cy="363395"/>
            </a:xfrm>
            <a:custGeom>
              <a:avLst/>
              <a:gdLst/>
              <a:ahLst/>
              <a:cxnLst/>
              <a:rect l="l" t="t" r="r" b="b"/>
              <a:pathLst>
                <a:path w="2778858" h="363395">
                  <a:moveTo>
                    <a:pt x="2778858" y="0"/>
                  </a:moveTo>
                  <a:lnTo>
                    <a:pt x="0" y="0"/>
                  </a:lnTo>
                  <a:lnTo>
                    <a:pt x="101600" y="181697"/>
                  </a:lnTo>
                  <a:lnTo>
                    <a:pt x="0" y="363395"/>
                  </a:lnTo>
                  <a:lnTo>
                    <a:pt x="2778858" y="363395"/>
                  </a:lnTo>
                  <a:lnTo>
                    <a:pt x="2677258" y="181697"/>
                  </a:lnTo>
                  <a:lnTo>
                    <a:pt x="2778858" y="0"/>
                  </a:lnTo>
                  <a:close/>
                </a:path>
              </a:pathLst>
            </a:custGeom>
            <a:solidFill>
              <a:srgbClr val="E9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88900" y="-76200"/>
              <a:ext cx="2601059" cy="43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5"/>
                </a:lnSpc>
              </a:pPr>
              <a:r>
                <a:rPr lang="en-US" sz="65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Pesquisa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55040" y="1562100"/>
            <a:ext cx="1755570" cy="771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RHEL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95104" y="1855171"/>
            <a:ext cx="11697792" cy="1472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pt-BR" sz="7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</a:t>
            </a:r>
            <a:r>
              <a:rPr lang="en-US" sz="70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uando</a:t>
            </a:r>
            <a:r>
              <a:rPr lang="en-US" sz="7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70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faz</a:t>
            </a:r>
            <a:r>
              <a:rPr lang="en-US" sz="7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70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sentido</a:t>
            </a:r>
            <a:r>
              <a:rPr lang="en-US" sz="7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usar: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466680-5880-7107-694F-494955C4D308}"/>
              </a:ext>
            </a:extLst>
          </p:cNvPr>
          <p:cNvSpPr txBox="1"/>
          <p:nvPr/>
        </p:nvSpPr>
        <p:spPr>
          <a:xfrm>
            <a:off x="318266" y="3720297"/>
            <a:ext cx="9130534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5000" dirty="0">
                <a:solidFill>
                  <a:schemeClr val="bg1"/>
                </a:solidFill>
              </a:rPr>
              <a:t>Padronização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pt-BR" sz="5000" dirty="0">
              <a:solidFill>
                <a:schemeClr val="bg1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5000" dirty="0">
                <a:solidFill>
                  <a:schemeClr val="bg1"/>
                </a:solidFill>
              </a:rPr>
              <a:t>Estabilidade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pt-BR" sz="5000" dirty="0">
              <a:solidFill>
                <a:schemeClr val="bg1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5000" dirty="0">
                <a:solidFill>
                  <a:schemeClr val="bg1"/>
                </a:solidFill>
              </a:rPr>
              <a:t>Suporte Formal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pt-BR" sz="5000" dirty="0">
              <a:solidFill>
                <a:schemeClr val="bg1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5000" dirty="0">
                <a:solidFill>
                  <a:schemeClr val="bg1"/>
                </a:solidFill>
              </a:rPr>
              <a:t>Planejamento ao longo prazo</a:t>
            </a:r>
            <a:endParaRPr lang="en-US" sz="50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227B59-BD00-2AAF-5D1C-2C5F4855B167}"/>
              </a:ext>
            </a:extLst>
          </p:cNvPr>
          <p:cNvSpPr txBox="1"/>
          <p:nvPr/>
        </p:nvSpPr>
        <p:spPr>
          <a:xfrm>
            <a:off x="10544173" y="5374595"/>
            <a:ext cx="579120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u="sng" dirty="0">
                <a:solidFill>
                  <a:schemeClr val="bg1"/>
                </a:solidFill>
              </a:rPr>
              <a:t>A escolha depende do risco, do custo e da criticidade do ambiente</a:t>
            </a:r>
            <a:endParaRPr lang="en-US" sz="4500" u="sng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3748" y="387804"/>
            <a:ext cx="1998155" cy="1249792"/>
          </a:xfrm>
          <a:custGeom>
            <a:avLst/>
            <a:gdLst/>
            <a:ahLst/>
            <a:cxnLst/>
            <a:rect l="l" t="t" r="r" b="b"/>
            <a:pathLst>
              <a:path w="1998155" h="1249792">
                <a:moveTo>
                  <a:pt x="0" y="0"/>
                </a:moveTo>
                <a:lnTo>
                  <a:pt x="1998156" y="0"/>
                </a:lnTo>
                <a:lnTo>
                  <a:pt x="1998156" y="1249791"/>
                </a:lnTo>
                <a:lnTo>
                  <a:pt x="0" y="1249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64286" y="600725"/>
            <a:ext cx="10550979" cy="1379764"/>
            <a:chOff x="0" y="0"/>
            <a:chExt cx="2778859" cy="3633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78858" cy="363395"/>
            </a:xfrm>
            <a:custGeom>
              <a:avLst/>
              <a:gdLst/>
              <a:ahLst/>
              <a:cxnLst/>
              <a:rect l="l" t="t" r="r" b="b"/>
              <a:pathLst>
                <a:path w="2778858" h="363395">
                  <a:moveTo>
                    <a:pt x="2778858" y="0"/>
                  </a:moveTo>
                  <a:lnTo>
                    <a:pt x="0" y="0"/>
                  </a:lnTo>
                  <a:lnTo>
                    <a:pt x="101600" y="181697"/>
                  </a:lnTo>
                  <a:lnTo>
                    <a:pt x="0" y="363395"/>
                  </a:lnTo>
                  <a:lnTo>
                    <a:pt x="2778858" y="363395"/>
                  </a:lnTo>
                  <a:lnTo>
                    <a:pt x="2677258" y="181697"/>
                  </a:lnTo>
                  <a:lnTo>
                    <a:pt x="2778858" y="0"/>
                  </a:lnTo>
                  <a:close/>
                </a:path>
              </a:pathLst>
            </a:custGeom>
            <a:solidFill>
              <a:srgbClr val="E9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88900" y="-76200"/>
              <a:ext cx="2601059" cy="43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5"/>
                </a:lnSpc>
              </a:pPr>
              <a:r>
                <a:rPr lang="en-US" sz="65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Particionamento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55040" y="1562100"/>
            <a:ext cx="1755570" cy="771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RHEL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7AB144-6A61-E28A-D1F4-ACDC3826A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49" y="2811892"/>
            <a:ext cx="17911301" cy="65226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05800" y="419100"/>
            <a:ext cx="3987437" cy="1446552"/>
            <a:chOff x="0" y="-201534"/>
            <a:chExt cx="5316583" cy="192873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5316583" cy="1654400"/>
              <a:chOff x="0" y="0"/>
              <a:chExt cx="1128172" cy="35106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128172" cy="351062"/>
              </a:xfrm>
              <a:custGeom>
                <a:avLst/>
                <a:gdLst/>
                <a:ahLst/>
                <a:cxnLst/>
                <a:rect l="l" t="t" r="r" b="b"/>
                <a:pathLst>
                  <a:path w="1128172" h="351062">
                    <a:moveTo>
                      <a:pt x="0" y="0"/>
                    </a:moveTo>
                    <a:lnTo>
                      <a:pt x="1128172" y="0"/>
                    </a:lnTo>
                    <a:lnTo>
                      <a:pt x="1128172" y="351062"/>
                    </a:lnTo>
                    <a:lnTo>
                      <a:pt x="0" y="351062"/>
                    </a:lnTo>
                    <a:close/>
                  </a:path>
                </a:pathLst>
              </a:custGeom>
              <a:solidFill>
                <a:srgbClr val="E10000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128172" cy="389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64092" y="-201534"/>
              <a:ext cx="4988399" cy="1928736"/>
              <a:chOff x="0" y="-66046"/>
              <a:chExt cx="1058532" cy="40927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058532" cy="304501"/>
              </a:xfrm>
              <a:custGeom>
                <a:avLst/>
                <a:gdLst/>
                <a:ahLst/>
                <a:cxnLst/>
                <a:rect l="l" t="t" r="r" b="b"/>
                <a:pathLst>
                  <a:path w="1058532" h="304501">
                    <a:moveTo>
                      <a:pt x="0" y="0"/>
                    </a:moveTo>
                    <a:lnTo>
                      <a:pt x="1058532" y="0"/>
                    </a:lnTo>
                    <a:lnTo>
                      <a:pt x="1058532" y="304501"/>
                    </a:lnTo>
                    <a:lnTo>
                      <a:pt x="0" y="30450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66046"/>
                <a:ext cx="1058532" cy="4092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000"/>
                  </a:lnSpc>
                </a:pPr>
                <a:r>
                  <a:rPr lang="en-US" sz="5000" b="1" dirty="0" err="1">
                    <a:solidFill>
                      <a:srgbClr val="FFFFFF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Instalação</a:t>
                </a:r>
                <a:endParaRPr lang="en-US" sz="5000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69BA42A-6400-D5D2-9B7A-8E46A2CD1736}"/>
              </a:ext>
            </a:extLst>
          </p:cNvPr>
          <p:cNvGrpSpPr/>
          <p:nvPr/>
        </p:nvGrpSpPr>
        <p:grpSpPr>
          <a:xfrm>
            <a:off x="6555359" y="443953"/>
            <a:ext cx="1587824" cy="1611338"/>
            <a:chOff x="333748" y="387804"/>
            <a:chExt cx="1998155" cy="2167468"/>
          </a:xfrm>
        </p:grpSpPr>
        <p:sp>
          <p:nvSpPr>
            <p:cNvPr id="16" name="Freeform 2">
              <a:extLst>
                <a:ext uri="{FF2B5EF4-FFF2-40B4-BE49-F238E27FC236}">
                  <a16:creationId xmlns:a16="http://schemas.microsoft.com/office/drawing/2014/main" id="{1383B03A-C841-CDF9-C4E8-11C0D8776708}"/>
                </a:ext>
              </a:extLst>
            </p:cNvPr>
            <p:cNvSpPr/>
            <p:nvPr/>
          </p:nvSpPr>
          <p:spPr>
            <a:xfrm>
              <a:off x="333748" y="387804"/>
              <a:ext cx="1998155" cy="1249792"/>
            </a:xfrm>
            <a:custGeom>
              <a:avLst/>
              <a:gdLst/>
              <a:ahLst/>
              <a:cxnLst/>
              <a:rect l="l" t="t" r="r" b="b"/>
              <a:pathLst>
                <a:path w="1998155" h="1249792">
                  <a:moveTo>
                    <a:pt x="0" y="0"/>
                  </a:moveTo>
                  <a:lnTo>
                    <a:pt x="1998156" y="0"/>
                  </a:lnTo>
                  <a:lnTo>
                    <a:pt x="1998156" y="1249791"/>
                  </a:lnTo>
                  <a:lnTo>
                    <a:pt x="0" y="1249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7" name="TextBox 6">
              <a:extLst>
                <a:ext uri="{FF2B5EF4-FFF2-40B4-BE49-F238E27FC236}">
                  <a16:creationId xmlns:a16="http://schemas.microsoft.com/office/drawing/2014/main" id="{89170D6F-0C7C-FE5B-1C27-5105D324F3E5}"/>
                </a:ext>
              </a:extLst>
            </p:cNvPr>
            <p:cNvSpPr txBox="1"/>
            <p:nvPr/>
          </p:nvSpPr>
          <p:spPr>
            <a:xfrm>
              <a:off x="333749" y="1562100"/>
              <a:ext cx="1998154" cy="99317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300"/>
                </a:lnSpc>
              </a:pPr>
              <a:r>
                <a:rPr lang="en-US" sz="4000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RHEL</a:t>
              </a: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213E062C-8B52-E4C3-0F18-2E80D680A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2460" y="2529878"/>
            <a:ext cx="11883079" cy="61144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05800" y="419100"/>
            <a:ext cx="3987437" cy="1446552"/>
            <a:chOff x="0" y="-201534"/>
            <a:chExt cx="5316583" cy="192873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5316583" cy="1654400"/>
              <a:chOff x="0" y="0"/>
              <a:chExt cx="1128172" cy="35106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128172" cy="351062"/>
              </a:xfrm>
              <a:custGeom>
                <a:avLst/>
                <a:gdLst/>
                <a:ahLst/>
                <a:cxnLst/>
                <a:rect l="l" t="t" r="r" b="b"/>
                <a:pathLst>
                  <a:path w="1128172" h="351062">
                    <a:moveTo>
                      <a:pt x="0" y="0"/>
                    </a:moveTo>
                    <a:lnTo>
                      <a:pt x="1128172" y="0"/>
                    </a:lnTo>
                    <a:lnTo>
                      <a:pt x="1128172" y="351062"/>
                    </a:lnTo>
                    <a:lnTo>
                      <a:pt x="0" y="351062"/>
                    </a:lnTo>
                    <a:close/>
                  </a:path>
                </a:pathLst>
              </a:custGeom>
              <a:solidFill>
                <a:srgbClr val="E10000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128172" cy="389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64092" y="-201534"/>
              <a:ext cx="4988399" cy="1928736"/>
              <a:chOff x="0" y="-66046"/>
              <a:chExt cx="1058532" cy="40927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058532" cy="304501"/>
              </a:xfrm>
              <a:custGeom>
                <a:avLst/>
                <a:gdLst/>
                <a:ahLst/>
                <a:cxnLst/>
                <a:rect l="l" t="t" r="r" b="b"/>
                <a:pathLst>
                  <a:path w="1058532" h="304501">
                    <a:moveTo>
                      <a:pt x="0" y="0"/>
                    </a:moveTo>
                    <a:lnTo>
                      <a:pt x="1058532" y="0"/>
                    </a:lnTo>
                    <a:lnTo>
                      <a:pt x="1058532" y="304501"/>
                    </a:lnTo>
                    <a:lnTo>
                      <a:pt x="0" y="30450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66046"/>
                <a:ext cx="1058532" cy="4092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000"/>
                  </a:lnSpc>
                </a:pPr>
                <a:r>
                  <a:rPr lang="en-US" sz="5000" b="1" dirty="0" err="1">
                    <a:solidFill>
                      <a:srgbClr val="FFFFFF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Instalação</a:t>
                </a:r>
                <a:endParaRPr lang="en-US" sz="5000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69BA42A-6400-D5D2-9B7A-8E46A2CD1736}"/>
              </a:ext>
            </a:extLst>
          </p:cNvPr>
          <p:cNvGrpSpPr/>
          <p:nvPr/>
        </p:nvGrpSpPr>
        <p:grpSpPr>
          <a:xfrm>
            <a:off x="6555359" y="443953"/>
            <a:ext cx="1587824" cy="1611338"/>
            <a:chOff x="333748" y="387804"/>
            <a:chExt cx="1998155" cy="2167468"/>
          </a:xfrm>
        </p:grpSpPr>
        <p:sp>
          <p:nvSpPr>
            <p:cNvPr id="16" name="Freeform 2">
              <a:extLst>
                <a:ext uri="{FF2B5EF4-FFF2-40B4-BE49-F238E27FC236}">
                  <a16:creationId xmlns:a16="http://schemas.microsoft.com/office/drawing/2014/main" id="{1383B03A-C841-CDF9-C4E8-11C0D8776708}"/>
                </a:ext>
              </a:extLst>
            </p:cNvPr>
            <p:cNvSpPr/>
            <p:nvPr/>
          </p:nvSpPr>
          <p:spPr>
            <a:xfrm>
              <a:off x="333748" y="387804"/>
              <a:ext cx="1998155" cy="1249792"/>
            </a:xfrm>
            <a:custGeom>
              <a:avLst/>
              <a:gdLst/>
              <a:ahLst/>
              <a:cxnLst/>
              <a:rect l="l" t="t" r="r" b="b"/>
              <a:pathLst>
                <a:path w="1998155" h="1249792">
                  <a:moveTo>
                    <a:pt x="0" y="0"/>
                  </a:moveTo>
                  <a:lnTo>
                    <a:pt x="1998156" y="0"/>
                  </a:lnTo>
                  <a:lnTo>
                    <a:pt x="1998156" y="1249791"/>
                  </a:lnTo>
                  <a:lnTo>
                    <a:pt x="0" y="1249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7" name="TextBox 6">
              <a:extLst>
                <a:ext uri="{FF2B5EF4-FFF2-40B4-BE49-F238E27FC236}">
                  <a16:creationId xmlns:a16="http://schemas.microsoft.com/office/drawing/2014/main" id="{89170D6F-0C7C-FE5B-1C27-5105D324F3E5}"/>
                </a:ext>
              </a:extLst>
            </p:cNvPr>
            <p:cNvSpPr txBox="1"/>
            <p:nvPr/>
          </p:nvSpPr>
          <p:spPr>
            <a:xfrm>
              <a:off x="333749" y="1562100"/>
              <a:ext cx="1998154" cy="99317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300"/>
                </a:lnSpc>
              </a:pPr>
              <a:r>
                <a:rPr lang="en-US" sz="4000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RHEL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7721CFE-2798-2C7F-8072-78CC29F2CA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409" y="2571096"/>
            <a:ext cx="13235181" cy="668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241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05800" y="419100"/>
            <a:ext cx="3987437" cy="1446552"/>
            <a:chOff x="0" y="-201534"/>
            <a:chExt cx="5316583" cy="192873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5316583" cy="1654400"/>
              <a:chOff x="0" y="0"/>
              <a:chExt cx="1128172" cy="35106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128172" cy="351062"/>
              </a:xfrm>
              <a:custGeom>
                <a:avLst/>
                <a:gdLst/>
                <a:ahLst/>
                <a:cxnLst/>
                <a:rect l="l" t="t" r="r" b="b"/>
                <a:pathLst>
                  <a:path w="1128172" h="351062">
                    <a:moveTo>
                      <a:pt x="0" y="0"/>
                    </a:moveTo>
                    <a:lnTo>
                      <a:pt x="1128172" y="0"/>
                    </a:lnTo>
                    <a:lnTo>
                      <a:pt x="1128172" y="351062"/>
                    </a:lnTo>
                    <a:lnTo>
                      <a:pt x="0" y="351062"/>
                    </a:lnTo>
                    <a:close/>
                  </a:path>
                </a:pathLst>
              </a:custGeom>
              <a:solidFill>
                <a:srgbClr val="E10000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128172" cy="389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64092" y="-201534"/>
              <a:ext cx="4988399" cy="1928736"/>
              <a:chOff x="0" y="-66046"/>
              <a:chExt cx="1058532" cy="40927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058532" cy="304501"/>
              </a:xfrm>
              <a:custGeom>
                <a:avLst/>
                <a:gdLst/>
                <a:ahLst/>
                <a:cxnLst/>
                <a:rect l="l" t="t" r="r" b="b"/>
                <a:pathLst>
                  <a:path w="1058532" h="304501">
                    <a:moveTo>
                      <a:pt x="0" y="0"/>
                    </a:moveTo>
                    <a:lnTo>
                      <a:pt x="1058532" y="0"/>
                    </a:lnTo>
                    <a:lnTo>
                      <a:pt x="1058532" y="304501"/>
                    </a:lnTo>
                    <a:lnTo>
                      <a:pt x="0" y="30450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66046"/>
                <a:ext cx="1058532" cy="4092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000"/>
                  </a:lnSpc>
                </a:pPr>
                <a:r>
                  <a:rPr lang="en-US" sz="5000" b="1" dirty="0" err="1">
                    <a:solidFill>
                      <a:srgbClr val="FFFFFF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Instalação</a:t>
                </a:r>
                <a:endParaRPr lang="en-US" sz="5000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69BA42A-6400-D5D2-9B7A-8E46A2CD1736}"/>
              </a:ext>
            </a:extLst>
          </p:cNvPr>
          <p:cNvGrpSpPr/>
          <p:nvPr/>
        </p:nvGrpSpPr>
        <p:grpSpPr>
          <a:xfrm>
            <a:off x="6555359" y="443953"/>
            <a:ext cx="1587824" cy="1611338"/>
            <a:chOff x="333748" y="387804"/>
            <a:chExt cx="1998155" cy="2167468"/>
          </a:xfrm>
        </p:grpSpPr>
        <p:sp>
          <p:nvSpPr>
            <p:cNvPr id="16" name="Freeform 2">
              <a:extLst>
                <a:ext uri="{FF2B5EF4-FFF2-40B4-BE49-F238E27FC236}">
                  <a16:creationId xmlns:a16="http://schemas.microsoft.com/office/drawing/2014/main" id="{1383B03A-C841-CDF9-C4E8-11C0D8776708}"/>
                </a:ext>
              </a:extLst>
            </p:cNvPr>
            <p:cNvSpPr/>
            <p:nvPr/>
          </p:nvSpPr>
          <p:spPr>
            <a:xfrm>
              <a:off x="333748" y="387804"/>
              <a:ext cx="1998155" cy="1249792"/>
            </a:xfrm>
            <a:custGeom>
              <a:avLst/>
              <a:gdLst/>
              <a:ahLst/>
              <a:cxnLst/>
              <a:rect l="l" t="t" r="r" b="b"/>
              <a:pathLst>
                <a:path w="1998155" h="1249792">
                  <a:moveTo>
                    <a:pt x="0" y="0"/>
                  </a:moveTo>
                  <a:lnTo>
                    <a:pt x="1998156" y="0"/>
                  </a:lnTo>
                  <a:lnTo>
                    <a:pt x="1998156" y="1249791"/>
                  </a:lnTo>
                  <a:lnTo>
                    <a:pt x="0" y="1249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7" name="TextBox 6">
              <a:extLst>
                <a:ext uri="{FF2B5EF4-FFF2-40B4-BE49-F238E27FC236}">
                  <a16:creationId xmlns:a16="http://schemas.microsoft.com/office/drawing/2014/main" id="{89170D6F-0C7C-FE5B-1C27-5105D324F3E5}"/>
                </a:ext>
              </a:extLst>
            </p:cNvPr>
            <p:cNvSpPr txBox="1"/>
            <p:nvPr/>
          </p:nvSpPr>
          <p:spPr>
            <a:xfrm>
              <a:off x="333749" y="1562100"/>
              <a:ext cx="1998154" cy="99317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300"/>
                </a:lnSpc>
              </a:pPr>
              <a:r>
                <a:rPr lang="en-US" sz="4000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RHEL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29C16B1-6593-7B52-9169-6AA0783D37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381" y="2246068"/>
            <a:ext cx="10659237" cy="723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23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05800" y="419100"/>
            <a:ext cx="3987437" cy="1446552"/>
            <a:chOff x="0" y="-201534"/>
            <a:chExt cx="5316583" cy="192873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5316583" cy="1654400"/>
              <a:chOff x="0" y="0"/>
              <a:chExt cx="1128172" cy="35106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128172" cy="351062"/>
              </a:xfrm>
              <a:custGeom>
                <a:avLst/>
                <a:gdLst/>
                <a:ahLst/>
                <a:cxnLst/>
                <a:rect l="l" t="t" r="r" b="b"/>
                <a:pathLst>
                  <a:path w="1128172" h="351062">
                    <a:moveTo>
                      <a:pt x="0" y="0"/>
                    </a:moveTo>
                    <a:lnTo>
                      <a:pt x="1128172" y="0"/>
                    </a:lnTo>
                    <a:lnTo>
                      <a:pt x="1128172" y="351062"/>
                    </a:lnTo>
                    <a:lnTo>
                      <a:pt x="0" y="351062"/>
                    </a:lnTo>
                    <a:close/>
                  </a:path>
                </a:pathLst>
              </a:custGeom>
              <a:solidFill>
                <a:srgbClr val="E10000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128172" cy="389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64092" y="-201534"/>
              <a:ext cx="4988399" cy="1928736"/>
              <a:chOff x="0" y="-66046"/>
              <a:chExt cx="1058532" cy="40927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058532" cy="304501"/>
              </a:xfrm>
              <a:custGeom>
                <a:avLst/>
                <a:gdLst/>
                <a:ahLst/>
                <a:cxnLst/>
                <a:rect l="l" t="t" r="r" b="b"/>
                <a:pathLst>
                  <a:path w="1058532" h="304501">
                    <a:moveTo>
                      <a:pt x="0" y="0"/>
                    </a:moveTo>
                    <a:lnTo>
                      <a:pt x="1058532" y="0"/>
                    </a:lnTo>
                    <a:lnTo>
                      <a:pt x="1058532" y="304501"/>
                    </a:lnTo>
                    <a:lnTo>
                      <a:pt x="0" y="30450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66046"/>
                <a:ext cx="1058532" cy="4092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000"/>
                  </a:lnSpc>
                </a:pPr>
                <a:r>
                  <a:rPr lang="en-US" sz="5000" b="1" dirty="0" err="1">
                    <a:solidFill>
                      <a:srgbClr val="FFFFFF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Instalação</a:t>
                </a:r>
                <a:endParaRPr lang="en-US" sz="5000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69BA42A-6400-D5D2-9B7A-8E46A2CD1736}"/>
              </a:ext>
            </a:extLst>
          </p:cNvPr>
          <p:cNvGrpSpPr/>
          <p:nvPr/>
        </p:nvGrpSpPr>
        <p:grpSpPr>
          <a:xfrm>
            <a:off x="6555359" y="443953"/>
            <a:ext cx="1587824" cy="1611338"/>
            <a:chOff x="333748" y="387804"/>
            <a:chExt cx="1998155" cy="2167468"/>
          </a:xfrm>
        </p:grpSpPr>
        <p:sp>
          <p:nvSpPr>
            <p:cNvPr id="16" name="Freeform 2">
              <a:extLst>
                <a:ext uri="{FF2B5EF4-FFF2-40B4-BE49-F238E27FC236}">
                  <a16:creationId xmlns:a16="http://schemas.microsoft.com/office/drawing/2014/main" id="{1383B03A-C841-CDF9-C4E8-11C0D8776708}"/>
                </a:ext>
              </a:extLst>
            </p:cNvPr>
            <p:cNvSpPr/>
            <p:nvPr/>
          </p:nvSpPr>
          <p:spPr>
            <a:xfrm>
              <a:off x="333748" y="387804"/>
              <a:ext cx="1998155" cy="1249792"/>
            </a:xfrm>
            <a:custGeom>
              <a:avLst/>
              <a:gdLst/>
              <a:ahLst/>
              <a:cxnLst/>
              <a:rect l="l" t="t" r="r" b="b"/>
              <a:pathLst>
                <a:path w="1998155" h="1249792">
                  <a:moveTo>
                    <a:pt x="0" y="0"/>
                  </a:moveTo>
                  <a:lnTo>
                    <a:pt x="1998156" y="0"/>
                  </a:lnTo>
                  <a:lnTo>
                    <a:pt x="1998156" y="1249791"/>
                  </a:lnTo>
                  <a:lnTo>
                    <a:pt x="0" y="1249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7" name="TextBox 6">
              <a:extLst>
                <a:ext uri="{FF2B5EF4-FFF2-40B4-BE49-F238E27FC236}">
                  <a16:creationId xmlns:a16="http://schemas.microsoft.com/office/drawing/2014/main" id="{89170D6F-0C7C-FE5B-1C27-5105D324F3E5}"/>
                </a:ext>
              </a:extLst>
            </p:cNvPr>
            <p:cNvSpPr txBox="1"/>
            <p:nvPr/>
          </p:nvSpPr>
          <p:spPr>
            <a:xfrm>
              <a:off x="333749" y="1562100"/>
              <a:ext cx="1998154" cy="99317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300"/>
                </a:lnSpc>
              </a:pPr>
              <a:r>
                <a:rPr lang="en-US" sz="4000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RHEL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811E6B3-4519-80BF-B41A-A671B1CDE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475" y="1945712"/>
            <a:ext cx="12211050" cy="762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574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05800" y="419100"/>
            <a:ext cx="3987437" cy="1446552"/>
            <a:chOff x="0" y="-201534"/>
            <a:chExt cx="5316583" cy="192873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5316583" cy="1654400"/>
              <a:chOff x="0" y="0"/>
              <a:chExt cx="1128172" cy="35106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128172" cy="351062"/>
              </a:xfrm>
              <a:custGeom>
                <a:avLst/>
                <a:gdLst/>
                <a:ahLst/>
                <a:cxnLst/>
                <a:rect l="l" t="t" r="r" b="b"/>
                <a:pathLst>
                  <a:path w="1128172" h="351062">
                    <a:moveTo>
                      <a:pt x="0" y="0"/>
                    </a:moveTo>
                    <a:lnTo>
                      <a:pt x="1128172" y="0"/>
                    </a:lnTo>
                    <a:lnTo>
                      <a:pt x="1128172" y="351062"/>
                    </a:lnTo>
                    <a:lnTo>
                      <a:pt x="0" y="351062"/>
                    </a:lnTo>
                    <a:close/>
                  </a:path>
                </a:pathLst>
              </a:custGeom>
              <a:solidFill>
                <a:srgbClr val="E10000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128172" cy="389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64092" y="-201534"/>
              <a:ext cx="4988399" cy="1928736"/>
              <a:chOff x="0" y="-66046"/>
              <a:chExt cx="1058532" cy="40927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058532" cy="304501"/>
              </a:xfrm>
              <a:custGeom>
                <a:avLst/>
                <a:gdLst/>
                <a:ahLst/>
                <a:cxnLst/>
                <a:rect l="l" t="t" r="r" b="b"/>
                <a:pathLst>
                  <a:path w="1058532" h="304501">
                    <a:moveTo>
                      <a:pt x="0" y="0"/>
                    </a:moveTo>
                    <a:lnTo>
                      <a:pt x="1058532" y="0"/>
                    </a:lnTo>
                    <a:lnTo>
                      <a:pt x="1058532" y="304501"/>
                    </a:lnTo>
                    <a:lnTo>
                      <a:pt x="0" y="30450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66046"/>
                <a:ext cx="1058532" cy="4092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000"/>
                  </a:lnSpc>
                </a:pPr>
                <a:r>
                  <a:rPr lang="en-US" sz="5000" b="1" dirty="0" err="1">
                    <a:solidFill>
                      <a:srgbClr val="FFFFFF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Instalação</a:t>
                </a:r>
                <a:endParaRPr lang="en-US" sz="5000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69BA42A-6400-D5D2-9B7A-8E46A2CD1736}"/>
              </a:ext>
            </a:extLst>
          </p:cNvPr>
          <p:cNvGrpSpPr/>
          <p:nvPr/>
        </p:nvGrpSpPr>
        <p:grpSpPr>
          <a:xfrm>
            <a:off x="6555359" y="443953"/>
            <a:ext cx="1587824" cy="1611338"/>
            <a:chOff x="333748" y="387804"/>
            <a:chExt cx="1998155" cy="2167468"/>
          </a:xfrm>
        </p:grpSpPr>
        <p:sp>
          <p:nvSpPr>
            <p:cNvPr id="16" name="Freeform 2">
              <a:extLst>
                <a:ext uri="{FF2B5EF4-FFF2-40B4-BE49-F238E27FC236}">
                  <a16:creationId xmlns:a16="http://schemas.microsoft.com/office/drawing/2014/main" id="{1383B03A-C841-CDF9-C4E8-11C0D8776708}"/>
                </a:ext>
              </a:extLst>
            </p:cNvPr>
            <p:cNvSpPr/>
            <p:nvPr/>
          </p:nvSpPr>
          <p:spPr>
            <a:xfrm>
              <a:off x="333748" y="387804"/>
              <a:ext cx="1998155" cy="1249792"/>
            </a:xfrm>
            <a:custGeom>
              <a:avLst/>
              <a:gdLst/>
              <a:ahLst/>
              <a:cxnLst/>
              <a:rect l="l" t="t" r="r" b="b"/>
              <a:pathLst>
                <a:path w="1998155" h="1249792">
                  <a:moveTo>
                    <a:pt x="0" y="0"/>
                  </a:moveTo>
                  <a:lnTo>
                    <a:pt x="1998156" y="0"/>
                  </a:lnTo>
                  <a:lnTo>
                    <a:pt x="1998156" y="1249791"/>
                  </a:lnTo>
                  <a:lnTo>
                    <a:pt x="0" y="1249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7" name="TextBox 6">
              <a:extLst>
                <a:ext uri="{FF2B5EF4-FFF2-40B4-BE49-F238E27FC236}">
                  <a16:creationId xmlns:a16="http://schemas.microsoft.com/office/drawing/2014/main" id="{89170D6F-0C7C-FE5B-1C27-5105D324F3E5}"/>
                </a:ext>
              </a:extLst>
            </p:cNvPr>
            <p:cNvSpPr txBox="1"/>
            <p:nvPr/>
          </p:nvSpPr>
          <p:spPr>
            <a:xfrm>
              <a:off x="333749" y="1562100"/>
              <a:ext cx="1998154" cy="99317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300"/>
                </a:lnSpc>
              </a:pPr>
              <a:r>
                <a:rPr lang="en-US" sz="4000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RHEL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DBAD2-F45D-5BE7-41D3-D64C54BAEB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850" y="2055291"/>
            <a:ext cx="12306300" cy="769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45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3748" y="387804"/>
            <a:ext cx="1998155" cy="1249792"/>
          </a:xfrm>
          <a:custGeom>
            <a:avLst/>
            <a:gdLst/>
            <a:ahLst/>
            <a:cxnLst/>
            <a:rect l="l" t="t" r="r" b="b"/>
            <a:pathLst>
              <a:path w="1998155" h="1249792">
                <a:moveTo>
                  <a:pt x="0" y="0"/>
                </a:moveTo>
                <a:lnTo>
                  <a:pt x="1998156" y="0"/>
                </a:lnTo>
                <a:lnTo>
                  <a:pt x="1998156" y="1249791"/>
                </a:lnTo>
                <a:lnTo>
                  <a:pt x="0" y="1249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64286" y="600725"/>
            <a:ext cx="10550979" cy="1379764"/>
            <a:chOff x="0" y="0"/>
            <a:chExt cx="2778859" cy="3633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78858" cy="363395"/>
            </a:xfrm>
            <a:custGeom>
              <a:avLst/>
              <a:gdLst/>
              <a:ahLst/>
              <a:cxnLst/>
              <a:rect l="l" t="t" r="r" b="b"/>
              <a:pathLst>
                <a:path w="2778858" h="363395">
                  <a:moveTo>
                    <a:pt x="2778858" y="0"/>
                  </a:moveTo>
                  <a:lnTo>
                    <a:pt x="0" y="0"/>
                  </a:lnTo>
                  <a:lnTo>
                    <a:pt x="101600" y="181697"/>
                  </a:lnTo>
                  <a:lnTo>
                    <a:pt x="0" y="363395"/>
                  </a:lnTo>
                  <a:lnTo>
                    <a:pt x="2778858" y="363395"/>
                  </a:lnTo>
                  <a:lnTo>
                    <a:pt x="2677258" y="181697"/>
                  </a:lnTo>
                  <a:lnTo>
                    <a:pt x="2778858" y="0"/>
                  </a:lnTo>
                  <a:close/>
                </a:path>
              </a:pathLst>
            </a:custGeom>
            <a:solidFill>
              <a:srgbClr val="E9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88900" y="-76200"/>
              <a:ext cx="2601059" cy="43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5"/>
                </a:lnSpc>
              </a:pPr>
              <a:r>
                <a:rPr lang="en-US" sz="65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Serviço SSH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30031" y="1562100"/>
            <a:ext cx="1998155" cy="771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RHEL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45794" y="2333612"/>
            <a:ext cx="5196412" cy="874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SSH hardened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1B916F-D1D1-ACF2-3F0B-EEFB8CF0C47E}"/>
              </a:ext>
            </a:extLst>
          </p:cNvPr>
          <p:cNvSpPr txBox="1"/>
          <p:nvPr/>
        </p:nvSpPr>
        <p:spPr>
          <a:xfrm>
            <a:off x="3800475" y="4229100"/>
            <a:ext cx="10687050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300" dirty="0">
                <a:solidFill>
                  <a:schemeClr val="bg1"/>
                </a:solidFill>
              </a:rPr>
              <a:t>Processo para tornar o SSH ainda mais seguro ou “endurecer” o SSH, alterando o arquivo principal de configuração, envolvendo desativação do login Root, uso de chaves SSH, alteração de porta e limitações</a:t>
            </a:r>
            <a:endParaRPr lang="en-US" sz="4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3748" y="387804"/>
            <a:ext cx="1998155" cy="1249792"/>
          </a:xfrm>
          <a:custGeom>
            <a:avLst/>
            <a:gdLst/>
            <a:ahLst/>
            <a:cxnLst/>
            <a:rect l="l" t="t" r="r" b="b"/>
            <a:pathLst>
              <a:path w="1998155" h="1249792">
                <a:moveTo>
                  <a:pt x="0" y="0"/>
                </a:moveTo>
                <a:lnTo>
                  <a:pt x="1998156" y="0"/>
                </a:lnTo>
                <a:lnTo>
                  <a:pt x="1998156" y="1249791"/>
                </a:lnTo>
                <a:lnTo>
                  <a:pt x="0" y="1249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64286" y="600725"/>
            <a:ext cx="10550979" cy="1379764"/>
            <a:chOff x="0" y="0"/>
            <a:chExt cx="2778859" cy="3633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78858" cy="363395"/>
            </a:xfrm>
            <a:custGeom>
              <a:avLst/>
              <a:gdLst/>
              <a:ahLst/>
              <a:cxnLst/>
              <a:rect l="l" t="t" r="r" b="b"/>
              <a:pathLst>
                <a:path w="2778858" h="363395">
                  <a:moveTo>
                    <a:pt x="2778858" y="0"/>
                  </a:moveTo>
                  <a:lnTo>
                    <a:pt x="0" y="0"/>
                  </a:lnTo>
                  <a:lnTo>
                    <a:pt x="101600" y="181697"/>
                  </a:lnTo>
                  <a:lnTo>
                    <a:pt x="0" y="363395"/>
                  </a:lnTo>
                  <a:lnTo>
                    <a:pt x="2778858" y="363395"/>
                  </a:lnTo>
                  <a:lnTo>
                    <a:pt x="2677258" y="181697"/>
                  </a:lnTo>
                  <a:lnTo>
                    <a:pt x="2778858" y="0"/>
                  </a:lnTo>
                  <a:close/>
                </a:path>
              </a:pathLst>
            </a:custGeom>
            <a:solidFill>
              <a:srgbClr val="E9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88900" y="-76200"/>
              <a:ext cx="2601059" cy="43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5"/>
                </a:lnSpc>
              </a:pPr>
              <a:r>
                <a:rPr lang="en-US" sz="65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Script em Shell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76333" y="1551870"/>
            <a:ext cx="1512987" cy="7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RHEL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76079" y="2209082"/>
            <a:ext cx="12935843" cy="102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Auditoria e hardening do OpenSSH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4661852"/>
            <a:ext cx="18288000" cy="317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Lê a configuração efetiva com sshd -T, compara 12+ diretivas contra a baseline e corrige. Modos --audit, --apply e --rollback. Valida com sshd -t antes de recarregar; se falhar, restaura o backup sozinho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3748" y="387804"/>
            <a:ext cx="1998155" cy="1249792"/>
          </a:xfrm>
          <a:custGeom>
            <a:avLst/>
            <a:gdLst/>
            <a:ahLst/>
            <a:cxnLst/>
            <a:rect l="l" t="t" r="r" b="b"/>
            <a:pathLst>
              <a:path w="1998155" h="1249792">
                <a:moveTo>
                  <a:pt x="0" y="0"/>
                </a:moveTo>
                <a:lnTo>
                  <a:pt x="1998156" y="0"/>
                </a:lnTo>
                <a:lnTo>
                  <a:pt x="1998156" y="1249791"/>
                </a:lnTo>
                <a:lnTo>
                  <a:pt x="0" y="1249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64286" y="600725"/>
            <a:ext cx="10550979" cy="1379764"/>
            <a:chOff x="0" y="0"/>
            <a:chExt cx="2778859" cy="3633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78858" cy="363395"/>
            </a:xfrm>
            <a:custGeom>
              <a:avLst/>
              <a:gdLst/>
              <a:ahLst/>
              <a:cxnLst/>
              <a:rect l="l" t="t" r="r" b="b"/>
              <a:pathLst>
                <a:path w="2778858" h="363395">
                  <a:moveTo>
                    <a:pt x="2778858" y="0"/>
                  </a:moveTo>
                  <a:lnTo>
                    <a:pt x="0" y="0"/>
                  </a:lnTo>
                  <a:lnTo>
                    <a:pt x="101600" y="181697"/>
                  </a:lnTo>
                  <a:lnTo>
                    <a:pt x="0" y="363395"/>
                  </a:lnTo>
                  <a:lnTo>
                    <a:pt x="2778858" y="363395"/>
                  </a:lnTo>
                  <a:lnTo>
                    <a:pt x="2677258" y="181697"/>
                  </a:lnTo>
                  <a:lnTo>
                    <a:pt x="2778858" y="0"/>
                  </a:lnTo>
                  <a:close/>
                </a:path>
              </a:pathLst>
            </a:custGeom>
            <a:solidFill>
              <a:srgbClr val="E9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88900" y="-76200"/>
              <a:ext cx="2601059" cy="43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5"/>
                </a:lnSpc>
              </a:pPr>
              <a:r>
                <a:rPr lang="en-US" sz="65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Pergunta 1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76333" y="1551870"/>
            <a:ext cx="1512987" cy="7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RHEL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4617" y="2418080"/>
            <a:ext cx="16918766" cy="2371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o Rocky e o AlmaLinux são praticamente clones do RHEL e são de graça. Então por que uma empresa ia pagar pela assinatura da Red Hat?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9129" y="5076825"/>
            <a:ext cx="16729741" cy="4780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a) Porque o kernel do RHEL é mais rápido que o das distros clonadas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b) Porque a assinatura dá suporte oficial, garante patch de segurança por até 10 anos e libera o Insights pra monitorar os servidores 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c) Porque só o RHEL tem SELinux, as clones não suportam isso 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d) Porque sem assinatura o root para de funcionar depois de um tempo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3748" y="387804"/>
            <a:ext cx="1998155" cy="1249792"/>
          </a:xfrm>
          <a:custGeom>
            <a:avLst/>
            <a:gdLst/>
            <a:ahLst/>
            <a:cxnLst/>
            <a:rect l="l" t="t" r="r" b="b"/>
            <a:pathLst>
              <a:path w="1998155" h="1249792">
                <a:moveTo>
                  <a:pt x="0" y="0"/>
                </a:moveTo>
                <a:lnTo>
                  <a:pt x="1998156" y="0"/>
                </a:lnTo>
                <a:lnTo>
                  <a:pt x="1998156" y="1249791"/>
                </a:lnTo>
                <a:lnTo>
                  <a:pt x="0" y="1249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64286" y="600725"/>
            <a:ext cx="10550979" cy="1379764"/>
            <a:chOff x="0" y="0"/>
            <a:chExt cx="2778859" cy="3633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78858" cy="363395"/>
            </a:xfrm>
            <a:custGeom>
              <a:avLst/>
              <a:gdLst/>
              <a:ahLst/>
              <a:cxnLst/>
              <a:rect l="l" t="t" r="r" b="b"/>
              <a:pathLst>
                <a:path w="2778858" h="363395">
                  <a:moveTo>
                    <a:pt x="2778858" y="0"/>
                  </a:moveTo>
                  <a:lnTo>
                    <a:pt x="0" y="0"/>
                  </a:lnTo>
                  <a:lnTo>
                    <a:pt x="101600" y="181697"/>
                  </a:lnTo>
                  <a:lnTo>
                    <a:pt x="0" y="363395"/>
                  </a:lnTo>
                  <a:lnTo>
                    <a:pt x="2778858" y="363395"/>
                  </a:lnTo>
                  <a:lnTo>
                    <a:pt x="2677258" y="181697"/>
                  </a:lnTo>
                  <a:lnTo>
                    <a:pt x="2778858" y="0"/>
                  </a:lnTo>
                  <a:close/>
                </a:path>
              </a:pathLst>
            </a:custGeom>
            <a:solidFill>
              <a:srgbClr val="E9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88900" y="-76200"/>
              <a:ext cx="2601059" cy="43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5"/>
                </a:lnSpc>
              </a:pPr>
              <a:r>
                <a:rPr lang="en-US" sz="65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Resposta 1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76333" y="1551870"/>
            <a:ext cx="1512987" cy="7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RHEL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5852174"/>
            <a:ext cx="18288000" cy="3406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Resposta: B. O kernel é literalmente o mesmo binário nas três (é rebuild, não é "outro Linux"), SELinux tá em todas, e não existe esse bloqueio de root em nenhuma delas. O que você paga é suporte técnico, garantia de patch e as ferramentas de gestão — não é o sistema funcionando diferente por baixo.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4617" y="2418080"/>
            <a:ext cx="16918766" cy="245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o Rocky e o AlmaLinux são praticamente clones do RHEL e são de graça. Então por que uma empresa ia pagar pela assinatura da Red Hat?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3748" y="387804"/>
            <a:ext cx="1998155" cy="1249792"/>
          </a:xfrm>
          <a:custGeom>
            <a:avLst/>
            <a:gdLst/>
            <a:ahLst/>
            <a:cxnLst/>
            <a:rect l="l" t="t" r="r" b="b"/>
            <a:pathLst>
              <a:path w="1998155" h="1249792">
                <a:moveTo>
                  <a:pt x="0" y="0"/>
                </a:moveTo>
                <a:lnTo>
                  <a:pt x="1998156" y="0"/>
                </a:lnTo>
                <a:lnTo>
                  <a:pt x="1998156" y="1249791"/>
                </a:lnTo>
                <a:lnTo>
                  <a:pt x="0" y="1249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64286" y="600725"/>
            <a:ext cx="10550979" cy="1379764"/>
            <a:chOff x="0" y="0"/>
            <a:chExt cx="2778859" cy="3633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78858" cy="363395"/>
            </a:xfrm>
            <a:custGeom>
              <a:avLst/>
              <a:gdLst/>
              <a:ahLst/>
              <a:cxnLst/>
              <a:rect l="l" t="t" r="r" b="b"/>
              <a:pathLst>
                <a:path w="2778858" h="363395">
                  <a:moveTo>
                    <a:pt x="2778858" y="0"/>
                  </a:moveTo>
                  <a:lnTo>
                    <a:pt x="0" y="0"/>
                  </a:lnTo>
                  <a:lnTo>
                    <a:pt x="101600" y="181697"/>
                  </a:lnTo>
                  <a:lnTo>
                    <a:pt x="0" y="363395"/>
                  </a:lnTo>
                  <a:lnTo>
                    <a:pt x="2778858" y="363395"/>
                  </a:lnTo>
                  <a:lnTo>
                    <a:pt x="2677258" y="181697"/>
                  </a:lnTo>
                  <a:lnTo>
                    <a:pt x="2778858" y="0"/>
                  </a:lnTo>
                  <a:close/>
                </a:path>
              </a:pathLst>
            </a:custGeom>
            <a:solidFill>
              <a:srgbClr val="E9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88900" y="-76200"/>
              <a:ext cx="2601059" cy="43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5"/>
                </a:lnSpc>
              </a:pPr>
              <a:r>
                <a:rPr lang="en-US" sz="65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Pergunta 2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76333" y="1551870"/>
            <a:ext cx="1512987" cy="7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RHEL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2591435"/>
            <a:ext cx="18288000" cy="156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esquema de disco que a gente montou, o /boot ficou fora do container do LUKS de propósito. Alguém sabe dizer por quê?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6333" y="5076825"/>
            <a:ext cx="17247748" cy="4742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a) Porque o xfs não roda dentro de partição criptografada 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12480" lvl="1" indent="-356240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b) Porque o GRUB tem que ler o kernel antes de qualquer chave de criptografia existir — não dá pra pedir senha pra abrir algo que ainda nem carregou </a:t>
            </a:r>
          </a:p>
          <a:p>
            <a:pPr algn="l">
              <a:lnSpc>
                <a:spcPts val="4760"/>
              </a:lnSpc>
            </a:pPr>
            <a:endParaRPr lang="en-US" sz="33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c) Porque tirar o /boot da criptografia economiza um espaço bom no disco 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d) Porque o UEFI simplesmente não deixa criar partição criptografada</a:t>
            </a:r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3748" y="387804"/>
            <a:ext cx="1998155" cy="1249792"/>
          </a:xfrm>
          <a:custGeom>
            <a:avLst/>
            <a:gdLst/>
            <a:ahLst/>
            <a:cxnLst/>
            <a:rect l="l" t="t" r="r" b="b"/>
            <a:pathLst>
              <a:path w="1998155" h="1249792">
                <a:moveTo>
                  <a:pt x="0" y="0"/>
                </a:moveTo>
                <a:lnTo>
                  <a:pt x="1998156" y="0"/>
                </a:lnTo>
                <a:lnTo>
                  <a:pt x="1998156" y="1249791"/>
                </a:lnTo>
                <a:lnTo>
                  <a:pt x="0" y="1249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64286" y="600725"/>
            <a:ext cx="10550979" cy="1379764"/>
            <a:chOff x="0" y="0"/>
            <a:chExt cx="2778859" cy="3633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78858" cy="363395"/>
            </a:xfrm>
            <a:custGeom>
              <a:avLst/>
              <a:gdLst/>
              <a:ahLst/>
              <a:cxnLst/>
              <a:rect l="l" t="t" r="r" b="b"/>
              <a:pathLst>
                <a:path w="2778858" h="363395">
                  <a:moveTo>
                    <a:pt x="2778858" y="0"/>
                  </a:moveTo>
                  <a:lnTo>
                    <a:pt x="0" y="0"/>
                  </a:lnTo>
                  <a:lnTo>
                    <a:pt x="101600" y="181697"/>
                  </a:lnTo>
                  <a:lnTo>
                    <a:pt x="0" y="363395"/>
                  </a:lnTo>
                  <a:lnTo>
                    <a:pt x="2778858" y="363395"/>
                  </a:lnTo>
                  <a:lnTo>
                    <a:pt x="2677258" y="181697"/>
                  </a:lnTo>
                  <a:lnTo>
                    <a:pt x="2778858" y="0"/>
                  </a:lnTo>
                  <a:close/>
                </a:path>
              </a:pathLst>
            </a:custGeom>
            <a:solidFill>
              <a:srgbClr val="E9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88900" y="-76200"/>
              <a:ext cx="2601059" cy="43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5"/>
                </a:lnSpc>
              </a:pPr>
              <a:r>
                <a:rPr lang="en-US" sz="65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Resposta 2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76333" y="1551870"/>
            <a:ext cx="1512987" cy="7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RHEL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6105525"/>
            <a:ext cx="18288000" cy="238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Resposta: B. É o próprio "buraco" de segurança que a gente teve que explicar na apresentação: o bootloader precisa rodar antes de qualquer coisa criptografada existir, então essa parte fica de fora por necessidade — não é limitação de sistema de arquivo nem regra do UEFI.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2581910"/>
            <a:ext cx="18288000" cy="2561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9"/>
              </a:lnSpc>
            </a:pPr>
            <a:r>
              <a:rPr lang="en-US" sz="48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esquema de disco que a gente montou, o /boot ficou fora do container do LUKS de propósito. Alguém sabe dizer por quê?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3748" y="387804"/>
            <a:ext cx="1998155" cy="1249792"/>
          </a:xfrm>
          <a:custGeom>
            <a:avLst/>
            <a:gdLst/>
            <a:ahLst/>
            <a:cxnLst/>
            <a:rect l="l" t="t" r="r" b="b"/>
            <a:pathLst>
              <a:path w="1998155" h="1249792">
                <a:moveTo>
                  <a:pt x="0" y="0"/>
                </a:moveTo>
                <a:lnTo>
                  <a:pt x="1998156" y="0"/>
                </a:lnTo>
                <a:lnTo>
                  <a:pt x="1998156" y="1249791"/>
                </a:lnTo>
                <a:lnTo>
                  <a:pt x="0" y="1249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64286" y="600725"/>
            <a:ext cx="10550979" cy="1379764"/>
            <a:chOff x="0" y="0"/>
            <a:chExt cx="2778859" cy="3633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78858" cy="363395"/>
            </a:xfrm>
            <a:custGeom>
              <a:avLst/>
              <a:gdLst/>
              <a:ahLst/>
              <a:cxnLst/>
              <a:rect l="l" t="t" r="r" b="b"/>
              <a:pathLst>
                <a:path w="2778858" h="363395">
                  <a:moveTo>
                    <a:pt x="2778858" y="0"/>
                  </a:moveTo>
                  <a:lnTo>
                    <a:pt x="0" y="0"/>
                  </a:lnTo>
                  <a:lnTo>
                    <a:pt x="101600" y="181697"/>
                  </a:lnTo>
                  <a:lnTo>
                    <a:pt x="0" y="363395"/>
                  </a:lnTo>
                  <a:lnTo>
                    <a:pt x="2778858" y="363395"/>
                  </a:lnTo>
                  <a:lnTo>
                    <a:pt x="2677258" y="181697"/>
                  </a:lnTo>
                  <a:lnTo>
                    <a:pt x="2778858" y="0"/>
                  </a:lnTo>
                  <a:close/>
                </a:path>
              </a:pathLst>
            </a:custGeom>
            <a:solidFill>
              <a:srgbClr val="E9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88900" y="-76200"/>
              <a:ext cx="2601059" cy="43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5"/>
                </a:lnSpc>
              </a:pPr>
              <a:r>
                <a:rPr lang="en-US" sz="65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Pergunta 3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76333" y="1551870"/>
            <a:ext cx="1512987" cy="7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RHEL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2509656"/>
            <a:ext cx="18288000" cy="2371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Liberamos a porta nova do SSH no firewalld e mesmo assim a conexão continuava sendo recusada. Com SELinux enforcing ligado, o que mais precisa ser feito?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4929" y="5076825"/>
            <a:ext cx="17798143" cy="4780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a) Nada, só o firewall já resolveria 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b) Dar um setenforce 0 pra desligar o SELinux até funcionar 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c) Usar semanage port pra marcar a porta nova com o contexto ssh_port_t, porque sem isso o SELinux barra o sshd mesmo com o firewall aberto </a:t>
            </a:r>
          </a:p>
          <a:p>
            <a:pPr algn="l">
              <a:lnSpc>
                <a:spcPts val="4760"/>
              </a:lnSpc>
            </a:pPr>
            <a:endParaRPr lang="en-US" sz="34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d) Reiniciar o servidor inteiro, já que trocar porta de SSH pede reboot</a:t>
            </a:r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3748" y="387804"/>
            <a:ext cx="1998155" cy="1249792"/>
          </a:xfrm>
          <a:custGeom>
            <a:avLst/>
            <a:gdLst/>
            <a:ahLst/>
            <a:cxnLst/>
            <a:rect l="l" t="t" r="r" b="b"/>
            <a:pathLst>
              <a:path w="1998155" h="1249792">
                <a:moveTo>
                  <a:pt x="0" y="0"/>
                </a:moveTo>
                <a:lnTo>
                  <a:pt x="1998156" y="0"/>
                </a:lnTo>
                <a:lnTo>
                  <a:pt x="1998156" y="1249791"/>
                </a:lnTo>
                <a:lnTo>
                  <a:pt x="0" y="1249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64286" y="600725"/>
            <a:ext cx="10550979" cy="1379764"/>
            <a:chOff x="0" y="0"/>
            <a:chExt cx="2778859" cy="3633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78858" cy="363395"/>
            </a:xfrm>
            <a:custGeom>
              <a:avLst/>
              <a:gdLst/>
              <a:ahLst/>
              <a:cxnLst/>
              <a:rect l="l" t="t" r="r" b="b"/>
              <a:pathLst>
                <a:path w="2778858" h="363395">
                  <a:moveTo>
                    <a:pt x="2778858" y="0"/>
                  </a:moveTo>
                  <a:lnTo>
                    <a:pt x="0" y="0"/>
                  </a:lnTo>
                  <a:lnTo>
                    <a:pt x="101600" y="181697"/>
                  </a:lnTo>
                  <a:lnTo>
                    <a:pt x="0" y="363395"/>
                  </a:lnTo>
                  <a:lnTo>
                    <a:pt x="2778858" y="363395"/>
                  </a:lnTo>
                  <a:lnTo>
                    <a:pt x="2677258" y="181697"/>
                  </a:lnTo>
                  <a:lnTo>
                    <a:pt x="2778858" y="0"/>
                  </a:lnTo>
                  <a:close/>
                </a:path>
              </a:pathLst>
            </a:custGeom>
            <a:solidFill>
              <a:srgbClr val="E9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88900" y="-76200"/>
              <a:ext cx="2601059" cy="43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5"/>
                </a:lnSpc>
              </a:pPr>
              <a:r>
                <a:rPr lang="en-US" sz="65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Resposta 3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76333" y="1551870"/>
            <a:ext cx="1512987" cy="7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RHEL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2509656"/>
            <a:ext cx="18288000" cy="2371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Liberamos a porta nova do SSH no firewalld e mesmo assim a conexão continuava sendo recusada. Com SELinux enforcing ligado, o que mais precisa ser feito?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6257050"/>
            <a:ext cx="18288000" cy="2034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39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Resposta: C. Todo mundo pensa em desligar o SELinux quando dá esse tipo de erro (opção B), mas é exatamente o que o trabalho não quer ver — a ideia é rotular a porta direito, não desligar a proteção.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3748" y="387804"/>
            <a:ext cx="1998155" cy="1249792"/>
          </a:xfrm>
          <a:custGeom>
            <a:avLst/>
            <a:gdLst/>
            <a:ahLst/>
            <a:cxnLst/>
            <a:rect l="l" t="t" r="r" b="b"/>
            <a:pathLst>
              <a:path w="1998155" h="1249792">
                <a:moveTo>
                  <a:pt x="0" y="0"/>
                </a:moveTo>
                <a:lnTo>
                  <a:pt x="1998156" y="0"/>
                </a:lnTo>
                <a:lnTo>
                  <a:pt x="1998156" y="1249791"/>
                </a:lnTo>
                <a:lnTo>
                  <a:pt x="0" y="1249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64286" y="600725"/>
            <a:ext cx="10550979" cy="1379764"/>
            <a:chOff x="0" y="0"/>
            <a:chExt cx="2778859" cy="3633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78858" cy="363395"/>
            </a:xfrm>
            <a:custGeom>
              <a:avLst/>
              <a:gdLst/>
              <a:ahLst/>
              <a:cxnLst/>
              <a:rect l="l" t="t" r="r" b="b"/>
              <a:pathLst>
                <a:path w="2778858" h="363395">
                  <a:moveTo>
                    <a:pt x="2778858" y="0"/>
                  </a:moveTo>
                  <a:lnTo>
                    <a:pt x="0" y="0"/>
                  </a:lnTo>
                  <a:lnTo>
                    <a:pt x="101600" y="181697"/>
                  </a:lnTo>
                  <a:lnTo>
                    <a:pt x="0" y="363395"/>
                  </a:lnTo>
                  <a:lnTo>
                    <a:pt x="2778858" y="363395"/>
                  </a:lnTo>
                  <a:lnTo>
                    <a:pt x="2677258" y="181697"/>
                  </a:lnTo>
                  <a:lnTo>
                    <a:pt x="2778858" y="0"/>
                  </a:lnTo>
                  <a:close/>
                </a:path>
              </a:pathLst>
            </a:custGeom>
            <a:solidFill>
              <a:srgbClr val="E9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88900" y="-76200"/>
              <a:ext cx="2601059" cy="43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5"/>
                </a:lnSpc>
              </a:pPr>
              <a:r>
                <a:rPr lang="en-US" sz="65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Pergunta 4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76333" y="1551870"/>
            <a:ext cx="1512987" cy="7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RHEL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3652656"/>
            <a:ext cx="18288000" cy="335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gente colocou noexec em /var e isso acabou quebrando a execução dos containers rodando ali. Na visão de vocês, compensa manter o noexec e resolver esse problema de outro jeito, ou é melhor tirar essa restrição só em /var? </a:t>
            </a:r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3748" y="387804"/>
            <a:ext cx="1998155" cy="1249792"/>
          </a:xfrm>
          <a:custGeom>
            <a:avLst/>
            <a:gdLst/>
            <a:ahLst/>
            <a:cxnLst/>
            <a:rect l="l" t="t" r="r" b="b"/>
            <a:pathLst>
              <a:path w="1998155" h="1249792">
                <a:moveTo>
                  <a:pt x="0" y="0"/>
                </a:moveTo>
                <a:lnTo>
                  <a:pt x="1998156" y="0"/>
                </a:lnTo>
                <a:lnTo>
                  <a:pt x="1998156" y="1249791"/>
                </a:lnTo>
                <a:lnTo>
                  <a:pt x="0" y="1249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64286" y="600725"/>
            <a:ext cx="10550979" cy="1379764"/>
            <a:chOff x="0" y="0"/>
            <a:chExt cx="2778859" cy="3633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78858" cy="363395"/>
            </a:xfrm>
            <a:custGeom>
              <a:avLst/>
              <a:gdLst/>
              <a:ahLst/>
              <a:cxnLst/>
              <a:rect l="l" t="t" r="r" b="b"/>
              <a:pathLst>
                <a:path w="2778858" h="363395">
                  <a:moveTo>
                    <a:pt x="2778858" y="0"/>
                  </a:moveTo>
                  <a:lnTo>
                    <a:pt x="0" y="0"/>
                  </a:lnTo>
                  <a:lnTo>
                    <a:pt x="101600" y="181697"/>
                  </a:lnTo>
                  <a:lnTo>
                    <a:pt x="0" y="363395"/>
                  </a:lnTo>
                  <a:lnTo>
                    <a:pt x="2778858" y="363395"/>
                  </a:lnTo>
                  <a:lnTo>
                    <a:pt x="2677258" y="181697"/>
                  </a:lnTo>
                  <a:lnTo>
                    <a:pt x="2778858" y="0"/>
                  </a:lnTo>
                  <a:close/>
                </a:path>
              </a:pathLst>
            </a:custGeom>
            <a:solidFill>
              <a:srgbClr val="E9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88900" y="-76200"/>
              <a:ext cx="2601059" cy="43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5"/>
                </a:lnSpc>
              </a:pPr>
              <a:r>
                <a:rPr lang="en-US" sz="65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Resposta 4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76333" y="1551870"/>
            <a:ext cx="1512987" cy="7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RHEL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6496F54-4024-6600-222D-D2CB716C652D}"/>
              </a:ext>
            </a:extLst>
          </p:cNvPr>
          <p:cNvSpPr txBox="1"/>
          <p:nvPr/>
        </p:nvSpPr>
        <p:spPr>
          <a:xfrm>
            <a:off x="0" y="4360228"/>
            <a:ext cx="18288000" cy="3329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Resposta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Não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tem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um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gabarito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fechado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– o que vale é o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reconhecimento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que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existe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um trade-off real entre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segurança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funcionalidade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e defender a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escolha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com um motive que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faça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sentido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64286" y="600725"/>
            <a:ext cx="10550979" cy="1379764"/>
            <a:chOff x="0" y="0"/>
            <a:chExt cx="2778859" cy="3633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78858" cy="363395"/>
            </a:xfrm>
            <a:custGeom>
              <a:avLst/>
              <a:gdLst/>
              <a:ahLst/>
              <a:cxnLst/>
              <a:rect l="l" t="t" r="r" b="b"/>
              <a:pathLst>
                <a:path w="2778858" h="363395">
                  <a:moveTo>
                    <a:pt x="2778858" y="0"/>
                  </a:moveTo>
                  <a:lnTo>
                    <a:pt x="0" y="0"/>
                  </a:lnTo>
                  <a:lnTo>
                    <a:pt x="101600" y="181697"/>
                  </a:lnTo>
                  <a:lnTo>
                    <a:pt x="0" y="363395"/>
                  </a:lnTo>
                  <a:lnTo>
                    <a:pt x="2778858" y="363395"/>
                  </a:lnTo>
                  <a:lnTo>
                    <a:pt x="2677258" y="181697"/>
                  </a:lnTo>
                  <a:lnTo>
                    <a:pt x="2778858" y="0"/>
                  </a:lnTo>
                  <a:close/>
                </a:path>
              </a:pathLst>
            </a:custGeom>
            <a:solidFill>
              <a:srgbClr val="E9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8900" y="-76200"/>
              <a:ext cx="2601059" cy="43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5"/>
                </a:lnSpc>
              </a:pPr>
              <a:r>
                <a:rPr lang="en-US" sz="65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Pergunta 5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33748" y="387804"/>
            <a:ext cx="1998155" cy="1935579"/>
            <a:chOff x="0" y="0"/>
            <a:chExt cx="2664207" cy="25807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64207" cy="1666389"/>
            </a:xfrm>
            <a:custGeom>
              <a:avLst/>
              <a:gdLst/>
              <a:ahLst/>
              <a:cxnLst/>
              <a:rect l="l" t="t" r="r" b="b"/>
              <a:pathLst>
                <a:path w="2664207" h="1666389">
                  <a:moveTo>
                    <a:pt x="0" y="0"/>
                  </a:moveTo>
                  <a:lnTo>
                    <a:pt x="2664207" y="0"/>
                  </a:lnTo>
                  <a:lnTo>
                    <a:pt x="2664207" y="1666389"/>
                  </a:lnTo>
                  <a:lnTo>
                    <a:pt x="0" y="1666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23446" y="1580664"/>
              <a:ext cx="2017316" cy="10001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00"/>
                </a:lnSpc>
              </a:pPr>
              <a:r>
                <a:rPr lang="en-US" sz="45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RHEL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0" y="4360228"/>
            <a:ext cx="18288000" cy="3171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nosso script ssh-audit-harden.sh tem um modo --rollback. Por que isso é importante num script que mexe em configuração de sistema, e o que aconteceria se esse modo não existisse e uma mudança quebrasse o SSH remotamente?</a:t>
            </a:r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3748" y="387804"/>
            <a:ext cx="1998155" cy="1249792"/>
          </a:xfrm>
          <a:custGeom>
            <a:avLst/>
            <a:gdLst/>
            <a:ahLst/>
            <a:cxnLst/>
            <a:rect l="l" t="t" r="r" b="b"/>
            <a:pathLst>
              <a:path w="1998155" h="1249792">
                <a:moveTo>
                  <a:pt x="0" y="0"/>
                </a:moveTo>
                <a:lnTo>
                  <a:pt x="1998156" y="0"/>
                </a:lnTo>
                <a:lnTo>
                  <a:pt x="1998156" y="1249791"/>
                </a:lnTo>
                <a:lnTo>
                  <a:pt x="0" y="1249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64286" y="600725"/>
            <a:ext cx="10550979" cy="1379764"/>
            <a:chOff x="0" y="0"/>
            <a:chExt cx="2778859" cy="3633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78858" cy="363395"/>
            </a:xfrm>
            <a:custGeom>
              <a:avLst/>
              <a:gdLst/>
              <a:ahLst/>
              <a:cxnLst/>
              <a:rect l="l" t="t" r="r" b="b"/>
              <a:pathLst>
                <a:path w="2778858" h="363395">
                  <a:moveTo>
                    <a:pt x="2778858" y="0"/>
                  </a:moveTo>
                  <a:lnTo>
                    <a:pt x="0" y="0"/>
                  </a:lnTo>
                  <a:lnTo>
                    <a:pt x="101600" y="181697"/>
                  </a:lnTo>
                  <a:lnTo>
                    <a:pt x="0" y="363395"/>
                  </a:lnTo>
                  <a:lnTo>
                    <a:pt x="2778858" y="363395"/>
                  </a:lnTo>
                  <a:lnTo>
                    <a:pt x="2677258" y="181697"/>
                  </a:lnTo>
                  <a:lnTo>
                    <a:pt x="2778858" y="0"/>
                  </a:lnTo>
                  <a:close/>
                </a:path>
              </a:pathLst>
            </a:custGeom>
            <a:solidFill>
              <a:srgbClr val="E9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88900" y="-76200"/>
              <a:ext cx="2601059" cy="439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5"/>
                </a:lnSpc>
              </a:pPr>
              <a:r>
                <a:rPr lang="en-US" sz="65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Resposta 5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76333" y="1551870"/>
            <a:ext cx="1512987" cy="7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RHEL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4360228"/>
            <a:ext cx="18288000" cy="3281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Resposta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Nunca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fechar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sessão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atual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do SSH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sem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confirmar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numa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segunda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sessão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que a config nova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funciona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Sem rollback, um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erro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pode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significar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ficar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trancado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pra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fora da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própria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7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máquina</a:t>
            </a:r>
            <a:r>
              <a:rPr lang="en-US" sz="4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49861" y="3049361"/>
            <a:ext cx="4188279" cy="4188279"/>
            <a:chOff x="0" y="0"/>
            <a:chExt cx="5584371" cy="558437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5584371" cy="5584371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0000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5278" y="168422"/>
              <a:ext cx="5213816" cy="5213816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762775" y="826330"/>
              <a:ext cx="4058822" cy="2538683"/>
            </a:xfrm>
            <a:custGeom>
              <a:avLst/>
              <a:gdLst/>
              <a:ahLst/>
              <a:cxnLst/>
              <a:rect l="l" t="t" r="r" b="b"/>
              <a:pathLst>
                <a:path w="4058822" h="2538683">
                  <a:moveTo>
                    <a:pt x="0" y="0"/>
                  </a:moveTo>
                  <a:lnTo>
                    <a:pt x="4058822" y="0"/>
                  </a:lnTo>
                  <a:lnTo>
                    <a:pt x="4058822" y="2538683"/>
                  </a:lnTo>
                  <a:lnTo>
                    <a:pt x="0" y="2538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1255532" y="3241187"/>
              <a:ext cx="3162253" cy="15337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9598"/>
                </a:lnSpc>
              </a:pPr>
              <a:r>
                <a:rPr lang="en-US" sz="6856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RHEL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945</Words>
  <Application>Microsoft Office PowerPoint</Application>
  <PresentationFormat>Custom</PresentationFormat>
  <Paragraphs>101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Hat</dc:title>
  <dc:creator>Laboratório FIAP</dc:creator>
  <cp:lastModifiedBy>Laboratório FIAP</cp:lastModifiedBy>
  <cp:revision>3</cp:revision>
  <dcterms:created xsi:type="dcterms:W3CDTF">2006-08-16T00:00:00Z</dcterms:created>
  <dcterms:modified xsi:type="dcterms:W3CDTF">2026-09-16T13:03:13Z</dcterms:modified>
  <dc:identifier>DAHVTGkh9rw</dc:identifier>
</cp:coreProperties>
</file>